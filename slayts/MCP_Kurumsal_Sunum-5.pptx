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8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3" r:id="rId25"/>
    <p:sldId id="277" r:id="rId26"/>
    <p:sldId id="284" r:id="rId27"/>
    <p:sldId id="278" r:id="rId28"/>
    <p:sldId id="279" r:id="rId29"/>
    <p:sldId id="280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680"/>
  </p:normalViewPr>
  <p:slideViewPr>
    <p:cSldViewPr snapToGrid="0" snapToObjects="1">
      <p:cViewPr varScale="1">
        <p:scale>
          <a:sx n="135" d="100"/>
          <a:sy n="135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35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Amaç: ekibe MCP'nin ne olduğunu, REST API dünyamızdan farkını, client/server'ın nereye deploy edildiğini ve nasıl kullanıldığını tek oturumda göstermek. Şunu söyle: 'Bugün MCP'yi yepyeni bir şey gibi değil, zaten yaptığımız API işinin üstüne oturan bir standart olarak anlatacağım.' Kitlede teknik olmayanlar da var; her slaytta önce sade analojiyi, sonra teknik detayı vereceğim.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Analoji: 'USB-C for AI'. Eskiden her cihazın ayrı şarj kablosu vardı (M×N). USB-C tek standart getirdi (M+N). MCP de AI için bunu yapıyor. Teknik olmayanlara: 'şu an her entegrasyonu elle yazıyoruz, MCP onu standartlaştırıyor' demen yeterli. Teknik olanlara M×N→M+N noktasını vurgula: yeni bir tüketici geldiğinde sıfır glue kod.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cümle: 'MCP, AI uygulamalarının dış araçları ve veriyi kullanmasını standartlaştıran açık bir protokol.' Üç özellik: (1) Standart — JSON-RPC sözleşmesi. (2) Keşfedilebilir — bu, REST'ten en büyük fark; client önceden bilmek zorunda değil, runtime'da sorar. (3) Dilden bağımsız — bizim için kritik, çünkü server'ı Java yazıp Python tarafıyla sorunsuz konuşabiliriz. Anthropic Kasım 2024'te duyurdu; o günden beri fiili standart oldu.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rol. Host = kullanıcıyla LLM'i buluşturan uygulama (bizde Onyx). Client = host içinde, her server için BİR tane; client'ı genelde biz yazmayız, host framework'ü halleder. Server = yetenek sunan bağımsız süreç; BİZİM yazacağımız taraf burası. Önemli: client–server 1:1. Vurgula: 'server' kelimesi normal client/server anlamında — yani LLM tarafı client, yetenek sunan taraf server. Sağdaki oklardaki etiketler transport; bir sonraki konularda açacağız.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kritik kavrayış. Solda bizim bildiğimiz dünya: sözleşme statik OpenAPI; insan okur, her client için ayrı entegrasyon yazar. Sağda MCP: aynı backend, ama sözleşme runtime'da makineye sunulur ve çağrıyı LLM sürer. Cümle: 'MCP yeni bir backend değil; var olan servisimizin önüne taktığımız ikinci bir yüz.' Soru gelirse: ikisi aynı uygulamada yan yana da yaşayabilir — /api ve /mcp aynı WildFly'da.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primitive, alternatif değil tamamlayıcı; ayrım 'kim sürüyor' üzerinden. Tools = model karar verip çağırır (bizim senaryoda ağırlık burada). Resources = pasif veri, host/kullanıcı bağlama ekler. Prompts = hazır şablon. Soru: 'veri okuma'yı hem tool hem resource yapabilir miyiz? Evet — model kendi karar verip çeksin istiyorsak tool, kullanıcı arayüzde seçip eklesin istiyorsak resource. Müşteri 360'ta tool </a:t>
            </a:r>
            <a:r>
              <a:rPr lang="en-US" dirty="0" err="1"/>
              <a:t>kullanacağız</a:t>
            </a:r>
            <a:r>
              <a:rPr lang="en-US" dirty="0"/>
              <a:t>.</a:t>
            </a:r>
          </a:p>
          <a:p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 — modelin kendi çağırdığı fonksiyonlar.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Bir yeteneği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yap eğer: modelin görev sırasında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kendi </a:t>
            </a:r>
            <a:r>
              <a:rPr lang="tr-T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kararıyla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çağırması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gerekiyorsa, parametre alıyorsa, bir iş yapıyorsa ya da filtreli/dinamik veri döndürüyorsa. Yan etkisi olan (yazma) her şey her zaman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tool'dur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Çağrıyı model sürer; ne zaman, hangi argümanla, hangi sırayla çağıracağına o karar verir. Örnek: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crm_search_customer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crm_get_opportunities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crm_create_activity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(...). Kısa kural: "Modelin görev sırasında kendi seçip çağıracağı, parametreli ya da iş yapan her şey →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Bizim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akışımızda ağırlık burada.</a:t>
            </a:r>
          </a:p>
          <a:p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Resources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adreslenebilir, okunabilir veri (URI ile).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Bir şeyi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yap eğer: onu bir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eylem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olarak değil, modele iliştirilecek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bağlam verisi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olarak sunmak istiyorsan. Salt okunur, pasiftir, bir iş yapmaz; genelde parametre almaz, bir URI ile adreslenir. Önemli fark: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resource'u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kullanıcı/uygulama sürer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model değil — yani kullanıcı arayüzde "şu kaydı/dosyayı bağlama ekle" der, host onu modele verir. Dokümanlar, belirli bir kaydın tam içeriği, bir politika dosyası için idealdir. Örnek: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://C-8842/profile, file://politika/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kvkk.pdf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Kısa kural: "Kullanıcının arayüzden seçip modele iliştireceği, adreslenebilir, pasif veri bloğu →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Not: birçok host 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Onyx'in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 dahil)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-merkezlidir;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özellikle kullanıcının bağlamı elle seçtiği arayüzlerde parlar. Tüketici saf bir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loop'u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ise çoğu şeyi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olarak modellemek daha pratiktir.</a:t>
            </a:r>
          </a:p>
          <a:p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kullanıcının tetiklediği hazır şablon/iş akışı.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Bir şeyi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yap eğer: tekrar eden, standart bir görevi kullanıcının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 tıkla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slash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komut, buton, menü) çalıştırabileceği parametreli bir kalıp olarak paketlemek istiyorsan. Server yazarı olarak "bu işi şu şekilde, şu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tool'ları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kullanarak yap" diye küratörlü bir soru kalıbı sunarsın. Modelin otomatik çağırdığı bir şey değildir; kullanıcıya bir seçenek olarak gösterilir. Örnek: musteri_360_ozet(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adında, profili + siparişleri +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ticket'ları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toplayıp sabit bir formatta özetleten bir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Kısa kural: "Kullanıcının tek tıkla tetikleyeceği, standart bir iş akışı şablonu →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Karar özeti (tek eksen: kim sürüyor + ne yapıyor):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sürüyor, iş yapıyor / parametreli sorgu / yazma → 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Kullanıcı/uygulama sürüyor, sadece okunacak bağlam verisi →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Kullanıcı sürüyor, hazır soru/akış kalıbı → 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sözlü</a:t>
            </a:r>
            <a:r>
              <a:rPr lang="en-US" dirty="0"/>
              <a:t> </a:t>
            </a:r>
            <a:r>
              <a:rPr lang="en-US" dirty="0" err="1"/>
              <a:t>anlat</a:t>
            </a:r>
            <a:r>
              <a:rPr lang="en-US" dirty="0"/>
              <a:t>: </a:t>
            </a:r>
            <a:r>
              <a:rPr lang="en-US" dirty="0" err="1"/>
              <a:t>bağlanınca</a:t>
            </a:r>
            <a:r>
              <a:rPr lang="en-US" dirty="0"/>
              <a:t> initialize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yetenekler</a:t>
            </a:r>
            <a:r>
              <a:rPr lang="en-US" dirty="0"/>
              <a:t> </a:t>
            </a:r>
            <a:r>
              <a:rPr lang="en-US" dirty="0" err="1"/>
              <a:t>müzakere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; tools/list </a:t>
            </a:r>
            <a:r>
              <a:rPr lang="en-US" dirty="0" err="1"/>
              <a:t>ile</a:t>
            </a:r>
            <a:r>
              <a:rPr lang="en-US" dirty="0"/>
              <a:t> model </a:t>
            </a:r>
            <a:r>
              <a:rPr lang="en-US" dirty="0" err="1"/>
              <a:t>araç</a:t>
            </a:r>
            <a:r>
              <a:rPr lang="en-US" dirty="0"/>
              <a:t> </a:t>
            </a:r>
            <a:r>
              <a:rPr lang="en-US" dirty="0" err="1"/>
              <a:t>şemalarını</a:t>
            </a:r>
            <a:r>
              <a:rPr lang="en-US" dirty="0"/>
              <a:t> ÇALIŞMA ANINDA </a:t>
            </a:r>
            <a:r>
              <a:rPr lang="en-US" dirty="0" err="1"/>
              <a:t>alır</a:t>
            </a:r>
            <a:r>
              <a:rPr lang="en-US" dirty="0"/>
              <a:t> (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REST'te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keşif</a:t>
            </a:r>
            <a:r>
              <a:rPr lang="en-US" dirty="0"/>
              <a:t> </a:t>
            </a:r>
            <a:r>
              <a:rPr lang="en-US" dirty="0" err="1"/>
              <a:t>adımı</a:t>
            </a:r>
            <a:r>
              <a:rPr lang="en-US" dirty="0"/>
              <a:t>); model </a:t>
            </a:r>
            <a:r>
              <a:rPr lang="en-US" dirty="0" err="1"/>
              <a:t>göreve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hangi </a:t>
            </a:r>
            <a:r>
              <a:rPr lang="en-US" dirty="0" err="1"/>
              <a:t>tool'u</a:t>
            </a:r>
            <a:r>
              <a:rPr lang="en-US" dirty="0"/>
              <a:t> hangi </a:t>
            </a:r>
            <a:r>
              <a:rPr lang="en-US" dirty="0" err="1"/>
              <a:t>argümanla</a:t>
            </a:r>
            <a:r>
              <a:rPr lang="en-US" dirty="0"/>
              <a:t> </a:t>
            </a:r>
            <a:r>
              <a:rPr lang="en-US" dirty="0" err="1"/>
              <a:t>çağıracağına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; tools/call </a:t>
            </a:r>
            <a:r>
              <a:rPr lang="en-US" dirty="0" err="1"/>
              <a:t>ile</a:t>
            </a:r>
            <a:r>
              <a:rPr lang="en-US" dirty="0"/>
              <a:t> server </a:t>
            </a:r>
            <a:r>
              <a:rPr lang="en-US" dirty="0" err="1"/>
              <a:t>çalışır</a:t>
            </a:r>
            <a:r>
              <a:rPr lang="en-US" dirty="0"/>
              <a:t>; </a:t>
            </a:r>
            <a:r>
              <a:rPr lang="en-US" dirty="0" err="1"/>
              <a:t>sonuç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döner, model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dile</a:t>
            </a:r>
            <a:r>
              <a:rPr lang="en-US" dirty="0"/>
              <a:t> </a:t>
            </a:r>
            <a:r>
              <a:rPr lang="en-US" dirty="0" err="1"/>
              <a:t>çevirir</a:t>
            </a:r>
            <a:r>
              <a:rPr lang="en-US" dirty="0"/>
              <a:t>. </a:t>
            </a:r>
            <a:r>
              <a:rPr lang="en-US" dirty="0" err="1"/>
              <a:t>Vurgu</a:t>
            </a:r>
            <a:r>
              <a:rPr lang="en-US" dirty="0"/>
              <a:t>: </a:t>
            </a:r>
            <a:r>
              <a:rPr lang="en-US" dirty="0" err="1"/>
              <a:t>kimse</a:t>
            </a:r>
            <a:r>
              <a:rPr lang="en-US" dirty="0"/>
              <a:t> '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durumda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çağır</a:t>
            </a:r>
            <a:r>
              <a:rPr lang="en-US" dirty="0"/>
              <a:t>'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yazmadı</a:t>
            </a:r>
            <a:r>
              <a:rPr lang="en-US" dirty="0"/>
              <a:t> — model </a:t>
            </a:r>
            <a:r>
              <a:rPr lang="en-US" dirty="0" err="1"/>
              <a:t>şemadan</a:t>
            </a:r>
            <a:r>
              <a:rPr lang="en-US" dirty="0"/>
              <a:t> </a:t>
            </a:r>
            <a:r>
              <a:rPr lang="en-US" dirty="0" err="1"/>
              <a:t>üretti</a:t>
            </a:r>
            <a:r>
              <a:rPr lang="en-US" dirty="0"/>
              <a:t>. 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oturumun açılış adımı: gerçek iş 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çağırma) başlamadan önce iki taraf birbirine "ben kimim, ne konuşuyorum, neler yapabilirim" der.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 adımda üç şey takas edilir: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Protokol sürümü — "ben MCP 2025-11-25 konuşuyorum" / "ben de" diye ortak sürümde anlaşırlar. İsim/sürüm —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1.x" / "customer360 1.0" gibi kendini tanıtır. Ve asıl kısım,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capabilities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(yetenekler) — her taraf hangi özellikleri desteklediğini ilan eder: server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sunuyorum,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yok" der;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sampling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elicitation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destekliyorum" der.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"Müzakere" denmesinin sebebi şu: hiçbir taraf karşısındakinin ne yapabildiğini varsaymaz, baştan açıkça ilan edip ortak zeminde anlaşır. Örneğin server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yeteneğini bildirmediyse,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çağırmaya kalkışmaz;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sampling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desteklemediyse, server modelden bir LLM çağrısı istemeye çalışmaz. Yani bir sonraki adımların 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hangileri mümkün, burada belli olur.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Senin REST dünyanla farkı tam da bu: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REST'te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böyle bir adım yok, her istek bağımsızdır,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doğrudan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endpoint'e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gider. MCP bir oturum 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olduğu için, kalıcı bağlantının başında bir kez "tanışma" yapılır; sonrası bu anlaşmanın üstüne kurulur.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klasik dünyayı, yani bizim çıkış noktamızı gösterir. Sol: evet, her kaynak sistemin kendi arabirimi vardı — ama tek tip değildi. Modern olanlar REST/JSON, eskiler SOAP/WSDL (bankada hâlâ çok yaygın), bazıları doğrudan DB (JDBC, genelde read-replica), bazıları gece batch / SFTP dosyası; bankada sıkça mainframe'e adaptör. Yani her biri farklı protokol, farklı auth, farklı hata yönetimi demekti ve her biri için AYRI bir istemci yazardık. Orta: bu kaynakları birleştirip 'tek görünüm' çıkaran bir aggregation servisi (bizim Customer360Service'in tam buydu). İki klasik desen vardı: gerçek-zamanlı orkestrasyon (istek gelince hepsini çağır, join et — taze ama kırılgan) veya batch/ETL ile veri ambarına toplayıp oradan sorgulamak (hızlı ama bayat olabilir). Sağ: tüketici deterministikti — bir dashboard, rapor ya da başka servis. EN ÖNEMLİ MESAJ: 'önce CRM, sonra sipariş, sonra join' akışını bir geliştirici önceden KODA yazardı; zekâ insandaydı, kodda donmuştu. Yeni bir soru ya da yeni bir tüketici = yeni kod (M×N). Geçişi şöyle yap: 'MCP+LLM bu API'leri yok etmiyor, üstünde duruyor — aggregation servisi bile kalabilir. Değişen iki şey: tüketici tarafı standartlaşıyor (M+N) ve hangi sistemi ne zaman çağıracağı kararı insan-kodundan modele geçiyor; artık önceden kodlamadığımız bir soruyu bile model, mevcut tool'ları birleştirerek cevaplayabiliyor.' Bir sonraki slaytta MCP'nin ne olduğuna </a:t>
            </a:r>
            <a:r>
              <a:rPr lang="en-US" dirty="0" err="1"/>
              <a:t>geçeceğiz</a:t>
            </a:r>
            <a:r>
              <a:rPr lang="en-US" dirty="0"/>
              <a:t>.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stem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başına ince 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yok.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crm_get_account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orders_list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support_get_tickets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gibi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ince (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fine-grained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tool'lar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sunarsın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ortada Customer360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servisi yoktur. Orkestrasyonu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yapar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CRM'i çağırır, siparişleri çağırır, sonuçları kendi kafasında birleştirir. İşte asıl paradigma değişimi burada — eskiden kodunda donmuş olan "önce CRM, sonra sipariş, sonra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akışı artık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 içinde, 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runtime'da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yaşıyor. Bu yüzden model, senin hiç kodlamadığın bir soruyu bile mevcut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tool'ları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birleştirerek cevaplayabiliyor.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Yani farkın "girdiği yer" şu tek soru: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orkestrasyon nerede yaşıyor — kodda mı, modelde m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slayt, 'orkestrasyon nerede yaşıyor?' ve 'tool tasarımı (slayt 10) ile nasıl bağlanıyor?' sorularını birleştirir. Üç şeyi ayır: (1) tool yazmak = her tool'un kendi işini yapan kodu/tanımı, tek tek. (2) tool'ları birleştirmek = hangi tool, hangi sıra, sonuçları harmanla. (3) generic host döngüsü = modelin istediği tool'u çalıştırıp sonucu geri veren, isteğe özel olmayan tesisat. SOL (A): birleştirmeyi (2) SEN imperatif kodla yazarsın, aggregation servisinde; model'in işi yoktur; mevcut kodu yeniden kullanırsın, join deterministik. SAĞ (B): birleştirmeyi (2) MODEL yapar; sen 'call crm → call orders → join' diye bir kod YAZMAZSIN; sadece tool'ları iyi tanımlarsın, model sırayı açıklamalardan ve zorunlu parametrelerden runtime'da kurar. Amber kutu her iki tarafta orkestrasyonun sahibini gösterir. EN ÖNEMLİ BAĞLANTI (alttaki bant): B'de tek kontrolün tool tasarımıdır — yani “Tool'u LLM'e doğru vermek” slaytındaki kaldıraçlar B'de orkestrasyonun kendisidir. Bir açıklama kötüyse, arkada güvenlik ağı olan aggregation servisi olmadığı için tüm zincir kırılır. Pratik öneri: çoğu sistem hibrittir — kritik baseline için kaba bir tool (A), beklenmedik kombinasyonlar için ince tool'lar (B).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Geliştirmenin özü: hiçbir şeyi yeniden yazmıyoruz. Soldaki adımları göster — mevcut Customer360Service aynen kalır, üstüne @McpTool'lu ince bir sınıf koyarız, starter şemayı imzadan üretir, /mcp yayınlanır. Sağdaki kod: searchCustomers tek bir metot; son satır svc.search() ile mevcut servisi çağırıyor. Mesaj: 'MCP eklemek var olan API'yi yeniden yazmak değil, önüne ince bir kat koymak.' Aynı WildFly artifact'ına /api ile /mcp birlikte </a:t>
            </a:r>
            <a:r>
              <a:rPr lang="en-US" dirty="0" err="1"/>
              <a:t>sığar</a:t>
            </a:r>
            <a:r>
              <a:rPr lang="en-US" dirty="0"/>
              <a:t>.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 müşteriye dair bilgi şirkette tek yerde durmaz: iletişim/hesap CRM'de, alışverişler sipariş sisteminde, borç/fatura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ERP'de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şikayetler destek sisteminde. Bugün bir çalışan (destek temsilcisi, ilişki yöneticisi) bir müşteriyi anlamak için bu 3-4 ekranı tek tek açıp elle birleştiriyor — yavaş ve eksik.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360, bu dağınık veriyi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 bir müşteri kimliği etrafında birleştirip "tek camdan görünüm"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sunan yetenektir. Faydası üç kelime: hız (tek yerden), tam resim (daha iyi karar), tutarlılık (herkes aynı veriyi görür).</a:t>
            </a:r>
          </a:p>
          <a:p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Bizim projede iki katman — bu ayrımı vurgula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Bu, anlatırken en çok işine yarayacak ayrım: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Customer360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servisi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kaynak sistemlere gidip veriyi toplayan iş mantığı (klasik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zaten var ya da yazılır). Customer360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 server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o servisi, bir LLM/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agent'ın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doğal dilden kullanabilmesi için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tool'lar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olarak açan ince yüz. Yani sunumdaki rolü şu: "var olan bir servisi MCP ile sarıp,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gibi bir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agent'ın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Acme'nin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açık siparişleri ve şikayetleri ne?' sorusuna kendi orkestrasyonuyla cevap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verebilmesi"nin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somut örneği. Bu örneği seçtik çünkü her kurumda var, herkes hemen anlıyor ve "dağınık veriyi birleştirip AI'ya açmak"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MCP'nin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net kullanım senaryosu.</a:t>
            </a:r>
          </a:p>
          <a:p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Nasıl anlatmalısın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 cümlelik kanca ile aç: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tr-T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360, bir müşteriye dair her şeyi — iletişim, siparişler, faturalar, şikayetler — tek soruda toplayan birleşik görünüm."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Sonra somut senaryoyla devam et, çünkü insanlar hikâyeyle bağ kurar: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"Bugün bir temsilci müşteriyi anlamak için üç ayrı ekranda arıyor. </a:t>
            </a:r>
            <a:r>
              <a:rPr lang="tr-T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360 ile tek yerden; üstüne MCP ile açınca, </a:t>
            </a:r>
            <a:r>
              <a:rPr lang="tr-T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Onyx'te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kelimelerle sorup cevabı alıyor."</a:t>
            </a:r>
            <a:endParaRPr lang="tr-T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Kitleye göre tonu ayarla. Teknik olmayanlara benzetme yeter: "müşterinin tek dosyası", "tek cam" — ve "3 ekranda arama" derdini anlat, mimariye girme. Teknik olanlara bir cümle teknik derinlik ver: "kaynak sistemlere fan-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eden bir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servisi; biz onun üstüne MCP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katmanı koyup keşfedilebilir hale getiriyoruz."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slaytın tek mesajı var: MCP'nin protokol kısmı (anotasyon, transport, şema) framework sayesinde işin küçük parçası — kabaca %20. Asıl emek ve değer, tool'u modele DOĞRU vermekte: isim, açıklama, şema, granülerlik, çıktı, hata. Çünkü modelin davranışını tamamen bunlar sürüyor. 'MCP yazdım bitti' diyen biri işin en kritik %80'ini atlamış olur. Bir sonraki slaytta bu %80'i altı somut kaldıraca </a:t>
            </a:r>
            <a:r>
              <a:rPr lang="en-US" dirty="0" err="1"/>
              <a:t>dökeceğiz</a:t>
            </a:r>
            <a:r>
              <a:rPr lang="en-US" dirty="0"/>
              <a:t>.</a:t>
            </a:r>
          </a:p>
          <a:p>
            <a:r>
              <a:rPr lang="en-US" dirty="0" err="1"/>
              <a:t>Aggreation</a:t>
            </a:r>
            <a:r>
              <a:rPr lang="en-US" dirty="0"/>
              <a:t> </a:t>
            </a:r>
            <a:r>
              <a:rPr lang="en-US" dirty="0" err="1"/>
              <a:t>kullanırsak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sırayı</a:t>
            </a:r>
            <a:r>
              <a:rPr lang="en-US" dirty="0"/>
              <a:t> </a:t>
            </a:r>
            <a:r>
              <a:rPr lang="en-US" dirty="0" err="1"/>
              <a:t>kodda</a:t>
            </a:r>
            <a:r>
              <a:rPr lang="en-US" dirty="0"/>
              <a:t> </a:t>
            </a:r>
            <a:r>
              <a:rPr lang="en-US" dirty="0" err="1"/>
              <a:t>kendimiz</a:t>
            </a:r>
            <a:r>
              <a:rPr lang="en-US" dirty="0"/>
              <a:t> </a:t>
            </a:r>
            <a:r>
              <a:rPr lang="en-US" dirty="0" err="1"/>
              <a:t>yazarız</a:t>
            </a:r>
            <a:r>
              <a:rPr lang="en-US" dirty="0"/>
              <a:t>. 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getCustomer360(id) { var c =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crm.find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(id);  // sırayı SEN belirledin var o =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orders.list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(id, 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 var t =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support.tickets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(id);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(c, o, t); }</a:t>
            </a:r>
            <a:endParaRPr lang="en-US" dirty="0"/>
          </a:p>
          <a:p>
            <a:r>
              <a:rPr lang="en-US" dirty="0" err="1"/>
              <a:t>Aggreation</a:t>
            </a:r>
            <a:r>
              <a:rPr lang="en-US" dirty="0"/>
              <a:t> </a:t>
            </a:r>
            <a:r>
              <a:rPr lang="en-US" dirty="0" err="1"/>
              <a:t>kullanmazsak</a:t>
            </a:r>
            <a:r>
              <a:rPr lang="en-US" dirty="0"/>
              <a:t> b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sırayı koda yazmazsın;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açıklamaları ve şemalarına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gömersin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model de o sırayı kendisi çıkarır:</a:t>
            </a:r>
            <a:endParaRPr lang="en-US" dirty="0"/>
          </a:p>
          <a:p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crm_search_customer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"müşteriyi bulur,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customer_id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döndürür. Diğer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tool'lar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id'yi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ister — ÖNCE bunu çağır."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orders_list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customer_id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?) →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customer_id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zorunlu."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support_get_tickets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customer_id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*) →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customer_id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zorunlu."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%80'in somut hali — altı kaldıraç. (1) İsim net olmalı. (2) Açıklama insan dökümanı değil, modelin yönlendirme sinyali; bağımlılığı yaz ('önce id al'). (3) Şema enum/required/default ile sıkı olmalı ki model geçerli çağrı kursun. (4) Granülerlik görev-odaklı ~5 tool; ne tek dev tool ne 50 mikro tool. (5) Çıktı özet + id, sayfalı; ham 200 alan modeli boğar ve token yakar. (6) Hata mesajı modelin kurtarabileceği biçimde olmalı. Vurgula: kötü bir açıklama, mükemmel yazılmış bir MCP server'ı işe yaramaz kılar.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Soyut kaldıraçlardan sonra somut örnek. Tool'ları iç REST endpoint'lerinle 1:1 değil, CRM diline uygun ve göreve odaklı tasarla. Beş okuma + bir yazma tool'u: search ile id çözülür (giriş noktası), sonra account/opportunities/cases/activities ile detay çekilir. Son satır crm_create_activity bir YAZMA tool'u — sarı; kullanıcı onayı (elicitation) ve daha dar scope ister, ilk fazda devre dışı bırakılabilir. Param adlarındaki ? işareti opsiyonel demek; bu şema Qwen'in geçerli çağrı kurması için kritik.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server var varsayımıyla Qwen tool çağrısı nasıl görünür. Akış: kullanıcı doğal dille sorar; Qwen, kataloğdaki tool'lardan birini seçip bir tool_call üretir (name + arguments). Kritik nokta: arguments her zaman bir JSON STRING'tir, obje değil. Önce crm_search_customer ile id (C-8842) çözülür; id gelince Qwen zincirleme olarak crm_get_opportunities ve crm_get_activities çağırır. Bunları biz çağırmıyoruz, Qwen tool açıklamalarından üretiyor; biz sadece MCP'de çalıştırıp sonucu tool mesajı olarak geri veriyoruz, Qwen de doğal dille özetliyor. Pratik uyarı: bu format Qwen'de çalışsın diye vLLM'i doğru tool parser'la (genelde hermes) başlatmak gerekir — yoksa tool_call üretilmez.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Client'ı demistifiye et: 'bunu biz yazmıyoruz, host'la geliyor.' Onyx zaten bir MCP client içeriyor; biz Admin panelinden 'şu server'a bağlan' deyip yapılandırıyoruz. Deploy sorusu: client ayrı bir kutu değil, host uygulamasının (Onyx) içinde. Bizim emeğimiz server tarafında. Sağdaki kutu: host içinde client + beynimiz Qwen birlikte; client dışarı MCP server'a uzanıyor.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çok karışan soruyu burada netleştir: 'MCP server gerçek bir server mı, katman mı?' Cevap: ikisi de. Fiziksel olarak bir port dinleyen, /mcp endpoint'i olan gerçek bir süreç — tıpkı WildFly'a attığımız REST uygulaması gibi, aynı pipeline. Mimari olarak da mevcut iş mantığının önünde ince bir adaptör katmanı. Spring kullanırsak Spring Boot; Jakarta EE'de kalırsak SDK'nın Servlet transport'uyla WAR olarak mevcut WildFly'a. Hatta /api'nin yanına /mcp olarak aynı uygulamaya gömülebilir.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slayt, en sık karışan noktayı çözer: 'Onyx MCP client'ı yazdığı için ona mı bağımlıyım?' Hayır. Analoji: PostgreSQL veritabanı (server) bir kez kurulur; DBeaver, JDBC ile senin uygulaman, bir Python script'i hepsi kendi sürücüsüyle (client) bağlanır. DBeaver'la baktın diye DBeaver'a bağımlı olmazsın. MCP de aynı: server senin asıl varlığın, client her tüketicinin kendi getirdiği parça. Üç madde: bağımlılık server'da; hazır host kullanırken client yazmazsın; aynı server'a N client aynı anda bağlanır. Onyx, tüketicilerden sadece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Server'ı NE ZAMAN yazacağımızın kuralı. Tüketici insanın yazdığı deterministik kod ise (frontend, mikroservis, cron) düz REST yeter — çağıran hangi endpoint'i çağıracağını zaten bilir. Tüketici bir LLM/agent ise ve doğal dilden hangi işlemi hangi sırayla çağıracağına modelin karar vermesi gerekiyorsa MCP server yazarız. Kilit cümle: MCP mevcut API'yi değiştirmez, AI tüketicisi için ikinci bir yüz ekler; /api ile /mcp aynı backend üstünde yan yana yaşar.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ASIL SORU bu slaytta. Onyx insanların sohbet kutusundan soru sorduğu bir kanaldır; insan + sohbet + iç kullanım olduğunda hiçbir şey yazmazsın, Onyx'i kullanırsın (sol kart — örn. ilişki yöneticisinin ad-hoc sorusu). Kendi client'ını (yani kendi host uygulamanı) yazman gereken durum, tüketicinin Onyx'teki bir insan olmadığı zamandır. Bankadan dört senaryo: (1) müşteriye dönük mobil asistan — müşteri senin iç Onyx'ine asla girmez, kendi uygulamanın backend'i host olur. (2) gerçek-zamanlı dolandırıcılık/risk otomasyonu — ortada insan ve sohbet yok, bir pipeline; agent döngüsünü kendi servisin yürütür. (3) temsilcinin zaten kullandığı masaüstü uygulamasına gömülü asistan — Onyx'e geçmeden mevcut akışa eklenir. (4) regülasyon: prompt, model, log, veri üzerinde tam denetim gerekirse Onyx'in genel davranışı yetmez, kendi ince host'unu yazarsın. Alttaki bant kritik: kendi client'ı yazmak protokolü sıfırdan yazmak değil; MCP plumbing SDK'dan gelir, sen kendi uygulamanı/akışını yazarsın.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kuralı tekrarla: MCP teli dilden bağımsız, yani server'ın dili interop kararı değil, iç mühendislik kararı. Belirleyici: kod yeniden kullanımı. Java'da (sol) MCP server mevcut Customer360Service'i DOĞRUDAN çağırır, WAR olarak mevcut WildFly hattına gider. Python'da (sağ) o servisi çağırmak için ya yeniden yazarız ya mevcut Java API'ye HTTP atarız — sarı kutu, fazladan ağ hop'u. Üstelik Python WildFly'a deploy edilmez; ASGI uygulamasıdır, Docker'lanır, gateway arkasında k8s/VM'e gider — bizim hattan ayrı bir operasyon. Bu yüzden mevcut servisi sarmak için Java seçtik.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resmi transport. stdio: aynı makinede alt-süreç, ağ yok, en hızlı; yerel araçlar/prototip için. Ama Onyx stdio'yu doğrudan kabul etmez, köprü ister. Streamable HTTP: ağ üzerinden, tek /mcp endpoint, OAuth ve başlık desteği; çoklu client. Bizim seçimimiz net: Streamable HTTP, WildFly'da yayınlanmış. Eski HTTP+SSE transport'unu duyan olursa: o Mart 2025'te kullanımdan kaldırıldı, yenisi Streamable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güvenlik korkusunu dağıtmak için. 'Anlamadım' diyen olursa: 4. adım, yani 'token'ı doğrula, yetkisi var mı bak', bizim bugün yaptığımızın AYNISI. MCP server bir OAuth resource server; REST API'mizi Spring Security/JWT ile nasıl koruyorsak onu da öyle. Değişen iki şey: (1) client artık elle yazdığımız uygulama değil, Onyx — token'ı o taşıyor. (2) Parola adımı IdP'de, server parolayı görmez. Ek kural (sonraki cümle): MCP server kendine gelen token'ı upstream sistemlere AYNEN geçirmez (confused deputy); upstream için ayrı kimlik alır. Faz 1'de VPC içinde basit API key ile de başlanabilir.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Somut akış: temsilci Onyx'e 'Acme'nin açık siparişleri' yazar → Onyx tool şemalarıyla istemi LiteLLM üzerinden Qwen'e verir → Qwen 'önce search_customers, sonra get_customer_orders' tool çağrılarını üretir → Onyx'in client'ı server'a iletir → server kaynak sistemleri çağırır → Qwen sonucu doğal dile çevirir. Langfuse'da tüm döngüyü (hangi tool, argüman, süre) görürüz. Bu, daha önce gördüğümüz parçaların birleşik hali.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'hangi kod nerede çalışır' sorusunu çözer. Anahtar mesaj: üç ayrı runtime var ve karıştırılmamalı. Node.js sadece JS/TS çalıştırır; JVM (WildFly/Tomcat/WebSphere) Java çalıştırır; Python kendi yorumlayıcısında çalışır. Python web servisini Node'a ya da Tomcat'e DEPLOY ETMEZSİN — Python uygulaması kendi sunucusunu (uvicorn/gunicorn) içinde taşır ve konteyner olarak çalışır; 'WAR'ı app server'a at' karşılığı yoktur. Bileşenler: Host = Onyx ise Python(FastAPI) backend + Next.js önyüz, MCP client backend'in içinde; kendi client'ın ise seçtiğin dilde. LiteLLM = Python (uvicorn), Linux — Node.js DEĞİL, sadece bir kapı. Qwen = Python (vLLM), H200. Senin MCP server'ın = Java/JVM, WildFly'a WAR ya da Spring Boot jar (senin tanıdık dünyan). Langfuse = Node.js (Next.js) + Postgres; LiteLLM trace'leri ona düşürür. Vurgula: bu mimaride üç runtime birlikte yaşıyor (Java + Python + Node) ve MCP'nin dilden bağımsızlığı bunu mümkün kılıyor — hepsi HTTP'de konuşuyor. Numaralı oklar daha önceki akış slaytıyla aynı: ① tools/list, ② soru+tools, ③ tool_call, ④ tools/call, ⑤ </a:t>
            </a:r>
            <a:r>
              <a:rPr lang="en-US" dirty="0" err="1"/>
              <a:t>sonuç→cevap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kullanıcının sorusunu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LLM'e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gönderir 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LLM'e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sadece "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soru"yu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değil, "şu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tool'lar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mevcut, şunları çağırabilirsin" diye 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şemalarını da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verir→ LLM "CRM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tool'unu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çağır" der →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Onyx'in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içindeki MCP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MCP server'a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isteği atar → bir cevap (sonuç) alır → bu sonucu yeniden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LLM'e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gönderir → LLM nihai cevabı üretir → kullanıcıya gider. Doğru. Bu şemaları </a:t>
            </a:r>
            <a:r>
              <a:rPr lang="tr-T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bağlantı anında MCP server'dan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tr-T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ile bir kez çekip saklar.</a:t>
            </a:r>
          </a:p>
          <a:p>
            <a:endParaRPr lang="tr-T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İkincisi — döngü tek turla sınırlı değil.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Sonucu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LLM'e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geri verdiğinde, LLM her zaman "bitti, cevap bu" demez. İhtiyaç varsa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 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daha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isteyebilir. Senin örneğindeki gibi: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Acme'nin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açık siparişleri ve şikayetleri?" sorusunda LLM önce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crm_search_customer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der (müşteri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id'sini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bulmak için) →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çalıştırıp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id'yi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geri verir → LLM bu sefer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crm_get_opportunities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ve 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support_get_tickets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der →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onları da çalıştırıp sonuçları verir → ancak o zaman LLM "artık yeterli, cevabı üretiyorum" der. Yani "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çağır → sonucu geri ver" adımı, LLM "tamam" diyene kadar </a:t>
            </a:r>
            <a:r>
              <a:rPr lang="tr-T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tekrarlanabilen bir döngü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tek seferlik değil.</a:t>
            </a:r>
          </a:p>
          <a:p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 de rol dağılımını sabitlemek için: bu döngüyü çeviren </a:t>
            </a:r>
            <a:r>
              <a:rPr lang="tr-T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Onyx'tir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orkestratör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LLM sadece </a:t>
            </a:r>
            <a:r>
              <a:rPr lang="tr-T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karar verir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("şunu çağır" / "bitti"),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tool'u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kendisi çalıştırmaz. Çalıştıran, MCP server'a gerçek isteği atan taraf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Onyx'in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içindeki MCP </a:t>
            </a:r>
            <a:r>
              <a:rPr lang="tr-T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client'tır</a:t>
            </a:r>
            <a:r>
              <a:rPr lang="tr-T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Sonucu yorumlayıp doğal dile çeviren yine LLM.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Karar slaytı — amaç ekibin bilinçli seçim yapabilmesi. Üç seçenek: (1) Serbest — her ekip kendi dili: hızlı ve özerk ama auth/log tutarsızlaşır, her dilde starter bakımı, denetim zorlaşır. (2) Tek dil zorunlu: tek starter, tutarlı güvenlik, kolay transfer; ama greenfield AI işinde sürtünme. (3) ÖNERİ — onaylı diller + zorunlu starter: Java birincil (mevcut servisleri sarmak için), Python ikincil onaylı (greenfield AI araçları); esneklik ile tutarlılığı dengeler. En önemli mesaj alttaki bant: dil ne olursa olsun bazı invariant'lar zorunlu — OAuth resource server, audit log, /mcp streamable-http, standart hata formatı, Langfuse. Yani serbestlik bu çerçevenin içinde.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server tarafındaki dil-governance slaytının client tarafındaki eşi; sunumda burada karar verilir. İki uç + öneri, artı/eksileriyle. ÜRÜN BAŞINA (gömülü): her ürün kendi MCP client'ını taşır (Onyx gibi). Artısı hız ve sıfır altyapı; eksisi auth/log/politikanın dağılması, merkezî denetimin zorlaşması, ürüne kilitlenme. MERKEZÎ KATMAN (gateway/host): ürünler MCP server'lara senin yönettiğin tek katman üzerinden ulaşır. Artısı tek noktadan auth+RBAC, tek audit/Langfuse, tutarlı politika, ürün bağımsızlığı; eksisi ek bir katmanın bakımı ve kötü tasarlanırsa darboğaz/SPOF riski. ÖNERİ — HİBRİT: merkezîleştirdiğin şey politika/auth/audit/standartlar; client kodu birkaç yerde yaşayabilir. İnsan-sohbet senaryosunda Onyx gibi hazır ürünü kullan ama gateway/IdP'ye bağla, tool'ları merkezden yönet; kendi uygulamaların ve otomasyonların için kurumsal host/client SDK'sını kullan. ÖNEMLİ AYRIM: merkezîleştirdiğin client/host katmanıdır (tüketici tarafı), MCP server'lar değil — server'lar yine dağıtık olabilir. Karar kuralını (alttaki bant) oku: 'her üründe var mı' envanter kontrolüdür, strateji değil; strateji erişimi yöneten merkezî katman/standarttır. Bu slayt, daha önceki 'kurumsal starter' ve 'dil governance' mesajlarının doğal devamıdır.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Senin fikrin ve çok doğru: API framework'ümüz nasıl ortak standartları dayatıyorsa, MCP'de de ortak bir iç starter olmalı. En altta resmî SDK var. Ortaya kurumsal starter'ı koyarız: JWT doğrulama, RBAC kancaları, audit log, Langfuse, standart hata formatı, /mcp ayarı — hepsi hazır gelir. En üstte ekipler sadece @McpTool metotlarını yazar; güvenlik/log/observability'i yeniden icat etmezler. Sonuç: tutarlılık, hız, denetlenebilirlik.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 haritası, 'her şeyi baştan kurmayalım' mesajı. Faz 1: salt okunur, VPC, basit API key — destek temsilcisi senaryosuyla değeri hızlı göster, az riskle. Faz 2: OAuth resource server, IdP ile kullanıcı kimliği ve RBAC, kurumsal starter'ı çıkar. Faz 3: yazma tool'ları, ama onay/elicitation ve dar scope ile, tam audit. Mesaj: küçük başla, kanıtla, sertleştir.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Beş ana mesajı tekrar et. Kapanış cümlesi: 'MCP yeni bir dünya değil; zaten yaptığımız API işinin AI'ya bakan standart yüzü. Küçük bir okuma server'ıyla başlayıp kurumsal starter'a doğru büyüteceğiz.' Soru-cevaba aç. Sık gelecek sorular: dil seçimi (Java/Spring AI — mevcut kodu sarmak için), performans (Qwen H200'de tool-calling), maliyet/operasyon (mevcut WildFly hattı).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108960" cy="3108960"/>
          </a:xfrm>
          <a:prstGeom prst="ellipse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8229600" y="3291840"/>
            <a:ext cx="2377440" cy="2377440"/>
          </a:xfrm>
          <a:prstGeom prst="ellipse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E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— Kurumsal Bakış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· geliştirme · deploy · kullanım — ve dil / governance kararları için bilgilendirme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Ekibi  ·  Teknik ve genel kitle için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MCP? Entegrasyon patlaması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AI uygulaması × her sistem = ayrı ayrı yazılan tümleştirme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Klasik dünyada her AI uygulamasını her sisteme (DB, API, dosya, iç servis) ayrı ayrı bağlarız.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M uygulama × N sistem = M×N tümleştirme. Her biri elle yazılır, ayrı bakılır.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5C57"/>
                </a:solidFill>
              </a:rPr>
              <a:t>MCP ortak bir dil koyar: her sistem bir kez "server", her uygulama bir kez "client" olur → M+N.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7360920" y="1965960"/>
            <a:ext cx="0" cy="1188720"/>
          </a:xfrm>
          <a:prstGeom prst="line">
            <a:avLst/>
          </a:prstGeom>
          <a:noFill/>
          <a:ln w="1905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 flipV="1">
            <a:off x="7360920" y="2743200"/>
            <a:ext cx="1280160" cy="411480"/>
          </a:xfrm>
          <a:prstGeom prst="line">
            <a:avLst/>
          </a:prstGeom>
          <a:noFill/>
          <a:ln w="1905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360920" y="3154680"/>
            <a:ext cx="1280160" cy="411480"/>
          </a:xfrm>
          <a:prstGeom prst="line">
            <a:avLst/>
          </a:prstGeom>
          <a:noFill/>
          <a:ln w="1905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360920" y="3154680"/>
            <a:ext cx="0" cy="1188720"/>
          </a:xfrm>
          <a:prstGeom prst="line">
            <a:avLst/>
          </a:prstGeom>
          <a:noFill/>
          <a:ln w="1905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 flipH="1">
            <a:off x="6080760" y="3154680"/>
            <a:ext cx="1280160" cy="411480"/>
          </a:xfrm>
          <a:prstGeom prst="line">
            <a:avLst/>
          </a:prstGeom>
          <a:noFill/>
          <a:ln w="1905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 flipH="1" flipV="1">
            <a:off x="6080760" y="2743200"/>
            <a:ext cx="1280160" cy="411480"/>
          </a:xfrm>
          <a:prstGeom prst="line">
            <a:avLst/>
          </a:prstGeom>
          <a:noFill/>
          <a:ln w="1905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949440" y="155448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229600" y="315468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949440" y="393192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669280" y="315468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669280" y="2331720"/>
            <a:ext cx="822960" cy="82296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949440" y="2743200"/>
            <a:ext cx="822960" cy="822960"/>
          </a:xfrm>
          <a:prstGeom prst="ellipse">
            <a:avLst/>
          </a:prstGeom>
          <a:solidFill>
            <a:srgbClr val="0E9E96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94944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MCP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standart hub: bir kez bağlan, herkes kullansın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nedir?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uygulamalarının araç ve verilere standart, keşfedilebilir bir şekilde bağlanma protokolü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Standart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JSON-RPC 2.0 üzerinde ortak sözleşme; herkes aynı dili konuşur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Keşfedilebilir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Client çalışma anında "hangi araçlar var?" diye sorar, şemaları alır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6118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Dilden bağımsız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Server Java, client Python olabilir; tel protokolü umursamaz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Mimari: Host · Client · Server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host, bağlandığı her server için bir client açar (1:1)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04F"/>
                </a:solidFill>
              </a:rPr>
              <a:t>Host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Onyx, Claude Desktop, kendi uygulaman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033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194560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806440" y="21945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server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resources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2926080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806440" y="29260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hizmetin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3657600"/>
            <a:ext cx="2834640" cy="603504"/>
          </a:xfrm>
          <a:prstGeom prst="roundRect">
            <a:avLst>
              <a:gd name="adj" fmla="val 10606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806440" y="3657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sistemi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flipV="1">
            <a:off x="3931920" y="2496312"/>
            <a:ext cx="1828800" cy="1828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93192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Streamable HTTP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3931920" y="3227832"/>
            <a:ext cx="1828800" cy="1828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93192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Streamable HTTP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V="1">
            <a:off x="3931920" y="3959352"/>
            <a:ext cx="1828800" cy="1828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9319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stdio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REST'ten farkı: aynı backend, iki yüz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değişmez; MCP sadece ikinci bir sözleşme yüzü ekler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yazımı client'lar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elle kodlanır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12080" y="1417320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257800" y="14173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host'ları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Onyx, Claude Desktop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· OpenAPI dökümanı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2514600"/>
            <a:ext cx="3017520" cy="713232"/>
          </a:xfrm>
          <a:prstGeom prst="roundRect">
            <a:avLst>
              <a:gd name="adj" fmla="val 8974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257800" y="25146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· tools, JSON-RPC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7315200" cy="777240"/>
          </a:xfrm>
          <a:prstGeom prst="roundRect">
            <a:avLst>
              <a:gd name="adj" fmla="val 8235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iş mantığı + veri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servis · DAO · veritabanı (değişmez)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23160" y="2130552"/>
            <a:ext cx="0" cy="38404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720840" y="2130552"/>
            <a:ext cx="0" cy="38404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423160" y="3227832"/>
            <a:ext cx="0" cy="38404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720840" y="3227832"/>
            <a:ext cx="0" cy="38404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ne sunar: Tools · Resources · Prompts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 alternatif değil, farklı işler için tamamlayıcı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Modelin çağırdığı fonksiyonlar. Parametre alır, iş yapar / dinamik veri döner. Çağrıyı model sürer.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URI ile adreslenen okunabilir veri. Bağlam olarak iliştirilir. Genelde uygulama/kullanıcı sürer.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5087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263640" y="1783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63640" y="23774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Kullanıcının tetiklediği hazır şablonlar / iş akışları. Pratikte en az kullanılan.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tool çağrısının yaşam döngüsü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adımı (tools/list) REST'te olmayan farktır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591056" cy="96012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initialize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 müzakeresi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93976" y="28117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148840" y="2331720"/>
            <a:ext cx="1591056" cy="960120"/>
          </a:xfrm>
          <a:prstGeom prst="roundRect">
            <a:avLst>
              <a:gd name="adj" fmla="val 6667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194560" y="233172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8A4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tools/list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keşfi (runtime)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39896" y="28117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794760" y="2331720"/>
            <a:ext cx="1591056" cy="960120"/>
          </a:xfrm>
          <a:prstGeom prst="roundRect">
            <a:avLst>
              <a:gd name="adj" fmla="val 6667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840480" y="233172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LLM seçer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tool + argüman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85816" y="28117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40680" y="2331720"/>
            <a:ext cx="1591056" cy="960120"/>
          </a:xfrm>
          <a:prstGeom prst="roundRect">
            <a:avLst>
              <a:gd name="adj" fmla="val 6667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0" y="233172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tools/call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çalışır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31736" y="28117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086600" y="2331720"/>
            <a:ext cx="1591056" cy="96012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132320" y="233172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yanıt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dile çevir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</a:rPr>
              <a:t>Sarı adım, REST'te "geliştirici Swagger'ı okur" idi — derleme öncesi, insan eliyle. MCP'de bu iş runtime'a ve modele kayar.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MCP'den önce nasıl yapıyorduk?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sistemin kendi arabirimi vardı — farklı protokollerde; birleştirmeyi insan kodladı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468880" cy="530352"/>
          </a:xfrm>
          <a:prstGeom prst="roundRect">
            <a:avLst>
              <a:gd name="adj" fmla="val 12069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468880" cy="530352"/>
          </a:xfrm>
          <a:prstGeom prst="roundRect">
            <a:avLst>
              <a:gd name="adj" fmla="val 12069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/ XML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468880" cy="530352"/>
          </a:xfrm>
          <a:prstGeom prst="roundRect">
            <a:avLst>
              <a:gd name="adj" fmla="val 12069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DB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2468880" cy="530352"/>
          </a:xfrm>
          <a:prstGeom prst="roundRect">
            <a:avLst>
              <a:gd name="adj" fmla="val 12069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batch / dosya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1783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840480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13C82"/>
                </a:solidFill>
              </a:rPr>
              <a:t>Aggregation servisi</a:t>
            </a:r>
            <a:endParaRPr lang="en-US" sz="13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her sisteme ayrı istemci</a:t>
            </a:r>
            <a:endParaRPr lang="en-US" sz="13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orkestrasyonu insan yazdı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629400" y="2057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tüketici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6080" y="1636776"/>
            <a:ext cx="822960" cy="55778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926080" y="2231136"/>
            <a:ext cx="822960" cy="14630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 flipV="1">
            <a:off x="2926080" y="2606040"/>
            <a:ext cx="822960" cy="219456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 flipV="1">
            <a:off x="2926080" y="2788920"/>
            <a:ext cx="822960" cy="630936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45720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Her sistem ayrı protokol · ayrı istemci/auth · akışı insan kodladı (MCP yok, LLM yok)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Yeni soru ya da yeni tüketici = yeni kod  →  M×N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Aggregation'ı koru mu, modele mi bırak?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seçim — orkestrasyon kodda mı, modelde mi?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Aggregation'ı sar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12064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Sistem başına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627632"/>
            <a:ext cx="2926080" cy="457200"/>
          </a:xfrm>
          <a:prstGeom prst="roundRect">
            <a:avLst>
              <a:gd name="adj" fmla="val 14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051560" y="1627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2084832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005840" y="2359152"/>
            <a:ext cx="2926080" cy="713232"/>
          </a:xfrm>
          <a:prstGeom prst="roundRect">
            <a:avLst>
              <a:gd name="adj" fmla="val 8974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51560" y="23591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8A4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servisi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orkestrasyon + join = KODDA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68880" y="3072384"/>
            <a:ext cx="0" cy="237744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005840" y="3310128"/>
            <a:ext cx="2926080" cy="457200"/>
          </a:xfrm>
          <a:prstGeom prst="roundRect">
            <a:avLst>
              <a:gd name="adj" fmla="val 14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05156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Sipariş · Destek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627632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166360" y="16276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8A4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orkestrasyon + join = MODELDE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H="1">
            <a:off x="5559552" y="2286000"/>
            <a:ext cx="1024128" cy="347472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0" cy="347472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1024128" cy="347472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120640" y="2633472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166360" y="26334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2633472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190488" y="26334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68896" y="2633472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214616" y="26334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her sistem ayrı tool · aggregation servisi yok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B'de “tool'ları birleştiren kod” yoktur — birleştirmeyi model yapar.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4D06"/>
                </a:solidFill>
              </a:rPr>
              <a:t>Tek kontrolün tool tasarımı: açıklama · zorunlu parametre · çıktı şekli sırayı belirler (bkz. “Tool'u LLM'e doğru vermek” slaytı).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Geliştirme: aynı servisi sarmak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Customer360Service değişmez; üstüne ince bir /mcp yüzü eklenir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Mevcut Customer360Service (CRM · Destek · DB) olduğu gibi kalır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Üstüne @McpTool ile ince bir sarmalayıcı sınıf yazılır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Starter, JSON şemayı metot imzasından otomatik üretir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/mcp Streamable HTTP yayınlanır — aynı WildFly artifact'ı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55448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16304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983480" y="178308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@McpTool(description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"Müşteriyi isim/e-postadan bulur, id döner.")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List&lt;CustomerSummary&gt; searchCustomers(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@McpToolParam(required=true) String query,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@McpToolParam Integer limit)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svc.search(query, limit);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aynı servis — yeniden yazım yok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yazmak ≠ iş bitti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 tesisatı framework'ün; asıl iş tool'u LLM'e doğru vermek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8A4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“MCP yazdım, bitti” demek yarısını atlamak demek.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572768" cy="1051560"/>
          </a:xfrm>
          <a:prstGeom prst="rect">
            <a:avLst/>
          </a:prstGeom>
          <a:solidFill>
            <a:srgbClr val="CFE7E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12848" y="2423160"/>
            <a:ext cx="6291072" cy="1051560"/>
          </a:xfrm>
          <a:prstGeom prst="rect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C57"/>
                </a:solidFill>
              </a:rPr>
              <a:t>MCP iskeleti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5C57"/>
                </a:solidFill>
              </a:rPr>
              <a:t>~%20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12848" y="2423160"/>
            <a:ext cx="6291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Tool tasarımı + LLM'e doğru verme  ·  ~%80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Anotasyon · transport · şema üretimi — framework halleder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68880" y="3611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İsim · açıklama · parametre şeması · granülerlik · çıktı şekli · hata mesajları — modelin tüm davranışını bunlar belirler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Asıl iş: tool'u LLM'e doğru vermek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davranışını belirleyen altı kaldıraç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6245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Net isim  </a:t>
            </a:r>
            <a:r>
              <a:rPr lang="en-US" sz="1050" dirty="0">
                <a:solidFill>
                  <a:srgbClr val="64748B"/>
                </a:solidFill>
              </a:rPr>
              <a:t>fiil + nesne — iyi: getCustomerOrders / kötü: handle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384048" cy="38404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938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Açıklama = yönlendirme sinyali  </a:t>
            </a:r>
            <a:r>
              <a:rPr lang="en-US" sz="1050" dirty="0">
                <a:solidFill>
                  <a:srgbClr val="64748B"/>
                </a:solidFill>
              </a:rPr>
              <a:t>iyi: ‘önce searchCustomers ile id al’ / kötü: ‘müşteri işlemleri’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384048" cy="38404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963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Parametre şeması  </a:t>
            </a:r>
            <a:r>
              <a:rPr lang="en-US" sz="1050" dirty="0">
                <a:solidFill>
                  <a:srgbClr val="64748B"/>
                </a:solidFill>
              </a:rPr>
              <a:t>enum · required · default — örn. status: open|shipped|cancelled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384048" cy="38404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29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Granülerlik  </a:t>
            </a:r>
            <a:r>
              <a:rPr lang="en-US" sz="1050" dirty="0">
                <a:solidFill>
                  <a:srgbClr val="64748B"/>
                </a:solidFill>
              </a:rPr>
              <a:t>görev-odaklı ~5 tool — kötü: tek doEverything ya da 50 mikro 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384048" cy="38404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0292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30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Çıktı şekli  </a:t>
            </a:r>
            <a:r>
              <a:rPr lang="en-US" sz="1050" dirty="0">
                <a:solidFill>
                  <a:srgbClr val="64748B"/>
                </a:solidFill>
              </a:rPr>
              <a:t>özet + id, sayfalı — kötü: ham 200 alanı modele dökmek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384048" cy="38404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19709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Hata mesajı  </a:t>
            </a:r>
            <a:r>
              <a:rPr lang="en-US" sz="1050" dirty="0">
                <a:solidFill>
                  <a:srgbClr val="64748B"/>
                </a:solidFill>
              </a:rPr>
              <a:t>modelin kurtarabileceği — iyi: ‘ambiguous: 3 eşleşme’ / kötü: stack trace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Gerçekçi CRM tool kataloğu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değil, CRM diline uygun tool'lar (MCP server'da tanımlı)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crm_search_customer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48132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isim / e-posta / vergi no → customerId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query, limit 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924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crm_get_account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99339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360 özet: segment, durum, bakiye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customerId 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80924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25054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crm_get_opportunities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50545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satış fırsatları (stage, tutar)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customerId, stage?, status? 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80924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crm_get_cases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destek / şikayet kayıtları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customerId, status?, priority?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80924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" y="35295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crm_get_activities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52958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görüşme · not · e-posta geçmişi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customerId, since?, limit? }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924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8640" y="40416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4D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crm_create_activity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0416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yeni görüşme notu (YAZMA · onay)</a:t>
            </a: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 customerId, type, note 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tool çağrısı: gerçek akış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→ Qwen tool_call'ları üretir → MCP çalıştırır → özetler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Temsilci: </a:t>
            </a:r>
            <a:r>
              <a:rPr lang="en-US" sz="1250" i="1" dirty="0">
                <a:solidFill>
                  <a:srgbClr val="1E293B"/>
                </a:solidFill>
              </a:rPr>
              <a:t>“Ahmet Yılmaz'ın açık fırsatlarını ve son görüşmelerini özetle”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77440" y="1965960"/>
            <a:ext cx="27432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69748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 üretir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965960"/>
            <a:ext cx="27432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tool'u çalıştırır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965960"/>
            <a:ext cx="27432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90372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özetler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8046720" cy="1755648"/>
          </a:xfrm>
          <a:prstGeom prst="roundRect">
            <a:avLst>
              <a:gd name="adj" fmla="val 3125"/>
            </a:avLst>
          </a:prstGeom>
          <a:solidFill>
            <a:srgbClr val="16304F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77240" y="2697480"/>
            <a:ext cx="7589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B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Qwen önce müşteriyi çözer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{"name":"crm_search_customer",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"arguments":"{\"query\":\"Ahmet Yılmaz\"}"}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B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id gelince fırsat + görüşme ister (zincirleme)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{"name":"crm_get_opportunities",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"arguments":"{\"customerId\":\"C-8842\",\"status\":\"open\"}"}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arguments her zaman bir JSON string'tir; sonuç tool mesajı olarak Qwen'e geri döner. vLLM'de Qwen için tool parser (hermes) açık olmalı.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Client: nedir, nereye konur?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uygulamasının parçasıdır — genelde sen yazmazsın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Client, host'un içinde yaşar; bağlandığı her server için bir tane açılır.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Ayrı deploy edilmez: host uygulamasıyla (Onyx) birlikte gelir, sen sadece "şu server'a bağlan" diye yapılandırırsın.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Hazır host'lar zaten client içerir: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Onyx (bizim chat)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630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Claude Desktop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142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Cursor / VS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982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Kendi Spring AI uygulaman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554480"/>
            <a:ext cx="3108960" cy="26517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4F"/>
                </a:solidFill>
              </a:rPr>
              <a:t>Host (Onyx)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14884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80644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971800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80644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via LiteLLM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26974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dışarı: MCP server'a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Server: nedir, nereye deploy edilir?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Gerçek, deploy edilebilir bir server — mevcut servisin önünde ince katman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 (MCP client)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token'ı ile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24028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383280" y="2240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WildFly · /mcp · OAuth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224028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+ DB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servis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26974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989320" y="26974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33756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· /mcp endpoint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</a:rPr>
              <a:t>Deploy modeli bildiğin gibi: </a:t>
            </a:r>
            <a:r>
              <a:rPr lang="en-US" sz="1250" b="1" dirty="0">
                <a:solidFill>
                  <a:srgbClr val="0B5C57"/>
                </a:solidFill>
              </a:rPr>
              <a:t>Spring Boot servisi</a:t>
            </a:r>
            <a:r>
              <a:rPr lang="en-US" sz="1250" dirty="0">
                <a:solidFill>
                  <a:srgbClr val="1E293B"/>
                </a:solidFill>
              </a:rPr>
              <a:t> ya da SDK çekirdeğinin Servlet transport'uyla </a:t>
            </a:r>
            <a:r>
              <a:rPr lang="en-US" sz="1250" b="1" dirty="0">
                <a:solidFill>
                  <a:srgbClr val="0B5C57"/>
                </a:solidFill>
              </a:rPr>
              <a:t>WildFly'a WAR.</a:t>
            </a:r>
            <a:r>
              <a:rPr lang="en-US" sz="1250" dirty="0">
                <a:solidFill>
                  <a:srgbClr val="1E293B"/>
                </a:solidFill>
              </a:rPr>
              <a:t>  İstersen mevcut uygulamanın içine /api yanına /mcp olarak gömersin.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server, çok client — Onyx'e bağımlı değilsin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Yatırımın server'da; client her tüketicinin kendi getirdiği parçadır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609344"/>
            <a:ext cx="3017520" cy="676656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157984"/>
            <a:ext cx="3017520" cy="24688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Python script'in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834640" y="2523744"/>
            <a:ext cx="301752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377440" cy="475488"/>
          </a:xfrm>
          <a:prstGeom prst="roundRect">
            <a:avLst>
              <a:gd name="adj" fmla="val 13462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Gelecekteki uygulaman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2834640" y="2642616"/>
            <a:ext cx="3017520" cy="61264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852160" y="182880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943600" y="1828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5C57"/>
                </a:solidFill>
              </a:rPr>
              <a:t>Customer360 MCP server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bir kez yazdın · asıl varlığın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64592" cy="164592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77240" y="36667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Bağımlılık server'da — Onyx sadece bir tüketici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164592" cy="164592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77240" y="40782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Hazır host'ta client yazmazsın; içinde gelir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553712"/>
            <a:ext cx="164592" cy="164592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77240" y="44897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Aynı server'a aynı anda N client bağlanır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zaman MCP server yazmalıyım?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Belirleyen tek soru: tüketici insan-kodu mu, yoksa LLM / agent mı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Düz REST API yeter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</a:rPr>
              <a:t>Tüketici = insanın yazdığı deterministik kod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web frontend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başka bir mikroservis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zamanlanmış job (cron)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7492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 yaz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</a:rPr>
              <a:t>Tüketici = bir LLM / agent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doğal dilden istek gelir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hangi tool, hangi sıra → model karar verir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Onyx, kendi host'un, başka bir agent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</a:rPr>
              <a:t>MCP, API'ni değiştirmez — AI tüketicisi için ikinci bir yüz ekler. /api ve /mcp yan yana yaşar.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MCP client'ımı ne zaman yazmalıyım?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 zaten varken — kurumsal banka örneğiyle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Onyx = </a:t>
            </a:r>
            <a:r>
              <a:rPr lang="en-US" sz="1300" dirty="0">
                <a:solidFill>
                  <a:srgbClr val="1E293B"/>
                </a:solidFill>
              </a:rPr>
              <a:t>insan + sohbet kutusu.   </a:t>
            </a:r>
            <a:r>
              <a:rPr lang="en-US" sz="1300" b="1" dirty="0">
                <a:solidFill>
                  <a:srgbClr val="0B5C57"/>
                </a:solidFill>
              </a:rPr>
              <a:t>Kendi client = </a:t>
            </a:r>
            <a:r>
              <a:rPr lang="en-US" sz="1300" dirty="0">
                <a:solidFill>
                  <a:srgbClr val="1E293B"/>
                </a:solidFill>
              </a:rPr>
              <a:t>kendi kanalın · otomasyonun · kontrolün.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Onyx yeter (client yazma)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İç kullanıcı · ad-hoc · sohbet</a:t>
            </a:r>
            <a:endParaRPr lang="en-US" sz="1200" dirty="0"/>
          </a:p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Örnek: ilişki yöneticisi ‘Şu müşterinin 6 aylık kredi geçmişi nedir?’ diye sorar.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E3F2F0"/>
          </a:solidFill>
          <a:ln w="1905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client'ını (host'unu) yaz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Müşteriye dönük mobil bankacılık asistanı — müşteri Onyx'e girmez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Gerçek-zamanlı dolandırıcılık / risk otomasyonu — ne insan ne sohbet, bir pipeline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Çağrı merkezindeki mevcut masaüstü uygulamasına gömülü asistan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Sıkı uyum: prompt · model · log · veri üzerinde tam kontrol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2519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4D06"/>
                </a:solidFill>
              </a:rPr>
              <a:t>Kendi client'ı yazmak = </a:t>
            </a:r>
            <a:r>
              <a:rPr lang="en-US" sz="1100" dirty="0">
                <a:solidFill>
                  <a:srgbClr val="1E293B"/>
                </a:solidFill>
              </a:rPr>
              <a:t>protokolü değil, kendi host uygulamanı yazmak. MCP plumbing SDK'dan gelir (ClientSession / Spring AI).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mı Python mı? Server ve deploy farkı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teli dilden bağımsız — karar kod yeniden kullanımı ve operasyon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(seçtik)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(alternatif)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383280" cy="548640"/>
          </a:xfrm>
          <a:prstGeom prst="roundRect">
            <a:avLst>
              <a:gd name="adj" fmla="val 11667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(Spring AI)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383280" cy="640080"/>
          </a:xfrm>
          <a:prstGeom prst="roundRect">
            <a:avLst>
              <a:gd name="adj" fmla="val 10000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Customer360Service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kod, doğrudan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383280" cy="548640"/>
          </a:xfrm>
          <a:prstGeom prst="roundRect">
            <a:avLst>
              <a:gd name="adj" fmla="val 11667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Destek · DB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2240280"/>
            <a:ext cx="0" cy="2286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40280" y="3108960"/>
            <a:ext cx="0" cy="2286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Paket: WAR → WildFly (mevcut hat)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691640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25780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2286000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25780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8A4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REST API (/api)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fazladan ağ hop'u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12080" y="2990088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257800" y="2990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Customer360Service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3584448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257800" y="3584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Destek · DB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2148840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903720" y="2852928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903720" y="3447288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21208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Paket: ASGI/uvicorn → Docker → k8s/VM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</a:rPr>
              <a:t>Python seçersek WildFly'a gitmez: gateway + container ile ayrı bir operasyon zinciri kurar ve mevcut Java kodunu yeniden kullanamayız.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Transport: stdio vs Streamable HTTP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yalnızca bu ikisini tanır — SSE 2025'te kullanımdan kaldırıldı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86200" cy="2880360"/>
          </a:xfrm>
          <a:prstGeom prst="roundRect">
            <a:avLst>
              <a:gd name="adj" fmla="val 254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stdio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Yerel, aynı makinede alt-süreç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Ağ yok, en hızlı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Yerel dosya/araç, prototip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Onyx doğrudan desteklemez → köprü gerekir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886200" cy="2880360"/>
          </a:xfrm>
          <a:prstGeom prst="roundRect">
            <a:avLst>
              <a:gd name="adj" fmla="val 254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Streamable HTTP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Ağ üzerinden, çoklu client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Tek /mcp endpoint (POST+GET)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OAuth, bearer, başlıklar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Bizim seçimimiz: WildFly'da yayınla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Güvenlik: tanıdık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token üretimi → her çağrıda token + yetki kontrolü. MCP'de de aynı.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(bugün)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(aynı mantık)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Login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kullanıcı: user + parola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0" cy="10972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Token üretilir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imzalı JWT verir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77440" y="3035808"/>
            <a:ext cx="0" cy="10972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Çağrı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ile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3785616"/>
            <a:ext cx="0" cy="10972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57200" y="3895344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02920" y="38953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Doğrulama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yetki kontrol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1645920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Login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kullanıcı: Onyx / IdP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2286000"/>
            <a:ext cx="0" cy="10972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892040" y="23957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Token üretilir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= MCP server JWT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3035808"/>
            <a:ext cx="0" cy="10972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846320" y="3145536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92040" y="31455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/mcp çağrısı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Onyx: Bearer token ile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3785616"/>
            <a:ext cx="0" cy="109728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46320" y="3895344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92040" y="38953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Doğrulama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 token + yetki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Uçtan uca: Müşteri 360 örneği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stack'imizde tam akış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03120" cy="749808"/>
          </a:xfrm>
          <a:prstGeom prst="roundRect">
            <a:avLst>
              <a:gd name="adj" fmla="val 8537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temsilcisi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60020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971800" y="16002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+ MCP client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715000" y="16002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WildFly · /mcp · OAuth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 / trace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26080" y="32918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971800" y="3291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via LiteLLM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çağrısını üretir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3291840"/>
            <a:ext cx="2926080" cy="822960"/>
          </a:xfrm>
          <a:prstGeom prst="roundRect">
            <a:avLst>
              <a:gd name="adj" fmla="val 7778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715000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sistemler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sipariş · fatura · ticket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06040" y="1975104"/>
            <a:ext cx="3200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303520" y="1975104"/>
            <a:ext cx="36576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114800" y="2350008"/>
            <a:ext cx="0" cy="941832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20624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hangi tool?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H="1">
            <a:off x="2606040" y="3703320"/>
            <a:ext cx="3200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46888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trace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32320" y="2350008"/>
            <a:ext cx="0" cy="941832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bileşen hangi runtime'da çalışır?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→ JVM/WildFly · Python → uvicorn/konteyner · JS → Node.js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(MCP client)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Onyx: Python+Next.js · kendi client: seçtiğin dil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86868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355080" y="868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Java/JVM · WildFly veya Spring Boot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3200400"/>
            <a:ext cx="2103120" cy="868680"/>
          </a:xfrm>
          <a:prstGeom prst="roundRect">
            <a:avLst>
              <a:gd name="adj" fmla="val 7368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29000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(uvicorn) · Node DEĞİL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320040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080760" y="3200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13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— LLM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(vLLM) · H200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8A4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Postgres · trace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flipV="1">
            <a:off x="2651760" y="1143000"/>
            <a:ext cx="3657600" cy="6400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274320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① tools/list · ④ tools/call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H="1">
            <a:off x="2651760" y="1463040"/>
            <a:ext cx="3657600" cy="6858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74320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şema / sonuç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2468880"/>
            <a:ext cx="1965960" cy="7315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554480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② soru+tools · ⑤ sonuç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flipH="1" flipV="1">
            <a:off x="2194560" y="2468880"/>
            <a:ext cx="1920240" cy="7315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743200" y="2907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③ tool_call · cevap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52044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 flipH="1">
            <a:off x="5486400" y="3767328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 flipH="1">
            <a:off x="2651760" y="3657600"/>
            <a:ext cx="73152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651760" y="34564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trace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Kurumsal karar: herkes istediği dilde yazabilir mi?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Esneklik ↔ tutarlılık dengesi — seçenekler ve ödünleşimler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Serbest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hız, ekip özerkliği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en uygun aracı seç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tutarsız auth / log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her dilde ayrı starter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denetim zorlaşır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7472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dil zorunlu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tek kurumsal starter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tutarlı güvenlik / audit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ekip transferi kolay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greenfield AI'da sürtünme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herkesin tercihi değil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E3F2F0"/>
          </a:solidFill>
          <a:ln w="2794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26364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Onaylı diller + starter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Java birincil · Python ikincil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esneklik ve tutarlılık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her dilde zorunlu starter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birkaç starter bakımı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53528" y="1609344"/>
            <a:ext cx="896112" cy="310896"/>
          </a:xfrm>
          <a:prstGeom prst="roundRect">
            <a:avLst>
              <a:gd name="adj" fmla="val 29412"/>
            </a:avLst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653528" y="160934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ÖNERİ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4D06"/>
                </a:solidFill>
              </a:rPr>
              <a:t>Dil ne olursa olsun zorunlu: </a:t>
            </a:r>
            <a:r>
              <a:rPr lang="en-US" sz="1100" dirty="0">
                <a:solidFill>
                  <a:srgbClr val="1E293B"/>
                </a:solidFill>
              </a:rPr>
              <a:t>OAuth resource server · audit log · /mcp streamable-http · standart hata formatı · Langfuse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erişimini kim yönetir?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başına gömülü client mı,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katman mı — artılar ve eksiler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Ürün başına (gömülü)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hızlı, hazır ürünü direkt kullan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ek altyapı yok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auth / log / politika dağılır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merkezî denetim zor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ürüne kilitlenme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E7ECF2"/>
          </a:solidFill>
          <a:ln w="12700">
            <a:solidFill>
              <a:srgbClr val="3E5C82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7472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Merkezi</a:t>
            </a:r>
            <a:r>
              <a:rPr lang="en-US" sz="145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katman (gateway)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tek noktadan auth + RBAC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tek audit / Langfuse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tutarlı politika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ürün bağımsızlığı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- katman bakımı / SPOF riski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E3F2F0"/>
          </a:solidFill>
          <a:ln w="2794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26364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politika merkezde, client dağıtık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Onyx → gateway'e bağlı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kendi app → kurumsal SDK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+ esneklik ve kontrol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53528" y="1609344"/>
            <a:ext cx="896112" cy="310896"/>
          </a:xfrm>
          <a:prstGeom prst="roundRect">
            <a:avLst>
              <a:gd name="adj" fmla="val 29412"/>
            </a:avLst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653528" y="1609344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ÖNERİ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AF1E2"/>
          </a:solidFill>
          <a:ln w="12700">
            <a:solidFill>
              <a:srgbClr val="C2710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4D06"/>
                </a:solidFill>
              </a:rPr>
              <a:t>Karar kuralı: </a:t>
            </a:r>
            <a:r>
              <a:rPr lang="en-US" sz="1100" dirty="0">
                <a:solidFill>
                  <a:srgbClr val="1E293B"/>
                </a:solidFill>
              </a:rPr>
              <a:t>“Her üründe var mı?” envanter kontrolüdür, strateji değil. Strateji = MCP erişimini (auth · RBAC · audit · hangi server/tool) yöneten merkezî katman/standart.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Kurumsal MCP framework (starter)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framework'ümüz gibi: ortak starter, ekipler sadece tool yazar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E3F2F0"/>
          </a:solidFill>
          <a:ln w="12700">
            <a:solidFill>
              <a:srgbClr val="0E9E9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C57"/>
                </a:solidFill>
              </a:rPr>
              <a:t>Ekip tool'ları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sadece @McpTool metotları — iş mantığına odak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ECEEF8"/>
          </a:solidFill>
          <a:ln w="12700">
            <a:solidFill>
              <a:srgbClr val="4F5DAE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13C82"/>
                </a:solidFill>
              </a:rPr>
              <a:t>Kurumsal MCP Starter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auth (JWT/RBAC) · audit log · Langfuse · hata formatı · /mcp ayarı baked-in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EEF1F4"/>
          </a:solidFill>
          <a:ln w="12700">
            <a:solidFill>
              <a:srgbClr val="94A3B8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Resmî MCP Java SDK / Spring AI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protokol, şema üretimi, transport — Spring ekibiyle bakımı yapılan resmî temel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Aşamalı yol haritası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 yöneterek okumadan yazmaya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66928" cy="566928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92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Değeri kanıtla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Salt okunur tool'lar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VPC içine deploy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Basit API key auth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Müşteri 360 senaryosu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566928" cy="566928"/>
          </a:xfrm>
          <a:prstGeom prst="ellipse">
            <a:avLst/>
          </a:prstGeom>
          <a:solidFill>
            <a:srgbClr val="4F5DA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792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Kurumsallaştır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OAuth 2.1 resource server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IdP ile kullanıcı + RBAC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RFC 9728 metadata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Kurumsal starter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566928" cy="566928"/>
          </a:xfrm>
          <a:prstGeom prst="ellipse">
            <a:avLst/>
          </a:prstGeom>
          <a:solidFill>
            <a:srgbClr val="C2710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08076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481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1792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Genişlet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Yazma tool'ları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Onay / elicitation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Daha dar scope'lar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Tam audit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474720"/>
            <a:ext cx="2926080" cy="2926080"/>
          </a:xfrm>
          <a:prstGeom prst="ellipse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310896" cy="310896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</a:rPr>
              <a:t>MCP = AI için standart, keşfedilebilir, dilden bağımsız tümleştirme katmanı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310896" cy="310896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8836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</a:rPr>
              <a:t>Server gerçek bir süreçtir: mevcut servisin önüne /mcp yüzü; WildFly'a deploy edilir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310896" cy="310896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</a:rPr>
              <a:t>İş MCP'yi yazmakla bitmez: değer tool tasarımı + LLM'e doğru vermede (~%80)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072384"/>
            <a:ext cx="310896" cy="310896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0540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</a:rPr>
              <a:t>Güvenlik tanıdık: OAuth resource server; token'ı upstream'e geçirme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10896" cy="310896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6393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</a:rPr>
              <a:t>Dil kararı governance: onaylı diller + zorunlu kurumsal starter (Java birincil)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242816"/>
            <a:ext cx="310896" cy="310896"/>
          </a:xfrm>
          <a:prstGeom prst="ellipse">
            <a:avLst/>
          </a:prstGeom>
          <a:solidFill>
            <a:srgbClr val="0E9E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3152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224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</a:rPr>
              <a:t>Aşamalı yol haritasıyla küçükten büyüğe ilerleyelim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7201</Words>
  <Application>Microsoft Macintosh PowerPoint</Application>
  <PresentationFormat>Ekran Gösterisi (16:9)</PresentationFormat>
  <Paragraphs>485</Paragraphs>
  <Slides>29</Slides>
  <Notes>29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 — Kurumsal Bakış</dc:title>
  <dc:subject>PptxGenJS Presentation</dc:subject>
  <dc:creator>Platform Ekibi</dc:creator>
  <cp:lastModifiedBy>08 566</cp:lastModifiedBy>
  <cp:revision>6</cp:revision>
  <dcterms:created xsi:type="dcterms:W3CDTF">2026-06-29T22:31:01Z</dcterms:created>
  <dcterms:modified xsi:type="dcterms:W3CDTF">2026-06-29T23:41:44Z</dcterms:modified>
</cp:coreProperties>
</file>